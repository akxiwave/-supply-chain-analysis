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67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21588" y="1422653"/>
            <a:ext cx="5027930" cy="441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84060" y="1422653"/>
            <a:ext cx="4954270" cy="441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6726" y="158877"/>
            <a:ext cx="10118547" cy="4975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FFF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15715" y="3042869"/>
            <a:ext cx="8505190" cy="33058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7095" y="1044955"/>
            <a:ext cx="6333490" cy="1075294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2088514" marR="5080" indent="-2076450" algn="ctr">
              <a:lnSpc>
                <a:spcPts val="3890"/>
              </a:lnSpc>
              <a:spcBef>
                <a:spcPts val="585"/>
              </a:spcBef>
            </a:pPr>
            <a:r>
              <a:rPr lang="en-IN" dirty="0"/>
              <a:t>Supply Chain Analysis-CDACL-003</a:t>
            </a:r>
            <a:br>
              <a:rPr lang="en-IN" dirty="0"/>
            </a:br>
            <a:endParaRPr sz="3600" dirty="0"/>
          </a:p>
        </p:txBody>
      </p:sp>
      <p:grpSp>
        <p:nvGrpSpPr>
          <p:cNvPr id="3" name="object 3"/>
          <p:cNvGrpSpPr/>
          <p:nvPr/>
        </p:nvGrpSpPr>
        <p:grpSpPr>
          <a:xfrm>
            <a:off x="3139439" y="2968751"/>
            <a:ext cx="5950585" cy="689610"/>
            <a:chOff x="3139439" y="2968751"/>
            <a:chExt cx="5950585" cy="68961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39439" y="2968751"/>
              <a:ext cx="2728722" cy="68961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2872" y="2968751"/>
              <a:ext cx="567689" cy="6896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1472" y="2968751"/>
              <a:ext cx="1136142" cy="6896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2324" y="2968751"/>
              <a:ext cx="567690" cy="68961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0924" y="2968751"/>
              <a:ext cx="1163574" cy="68961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79207" y="2968751"/>
              <a:ext cx="567690" cy="68961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07807" y="2968751"/>
              <a:ext cx="796290" cy="68961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8807" y="2968751"/>
              <a:ext cx="567690" cy="68961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217407" y="2968751"/>
              <a:ext cx="872490" cy="689610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8715756" y="4064508"/>
            <a:ext cx="3362960" cy="2482215"/>
            <a:chOff x="8715756" y="4064508"/>
            <a:chExt cx="3362960" cy="2482215"/>
          </a:xfrm>
        </p:grpSpPr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187684" y="4064508"/>
              <a:ext cx="890777" cy="63322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910572" y="4526280"/>
              <a:ext cx="2097785" cy="63322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872472" y="4989576"/>
              <a:ext cx="2135885" cy="63322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59824" y="5451348"/>
              <a:ext cx="1541526" cy="6332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92740" y="5451348"/>
              <a:ext cx="1515618" cy="63322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15756" y="5913120"/>
              <a:ext cx="3359657" cy="633222"/>
            </a:xfrm>
            <a:prstGeom prst="rect">
              <a:avLst/>
            </a:prstGeom>
          </p:spPr>
        </p:pic>
      </p:grp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TEAM</a:t>
            </a:r>
            <a:r>
              <a:rPr spc="-15" dirty="0"/>
              <a:t> </a:t>
            </a:r>
            <a:r>
              <a:rPr dirty="0"/>
              <a:t>ID: PTID</a:t>
            </a:r>
            <a:r>
              <a:rPr spc="-1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0" dirty="0"/>
              <a:t>CDA</a:t>
            </a:r>
            <a:r>
              <a:rPr spc="-1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NOV</a:t>
            </a:r>
            <a:r>
              <a:rPr spc="-6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dirty="0"/>
              <a:t>25</a:t>
            </a:r>
            <a:r>
              <a:rPr spc="-20" dirty="0"/>
              <a:t> </a:t>
            </a:r>
            <a:r>
              <a:rPr dirty="0"/>
              <a:t>–</a:t>
            </a:r>
            <a:r>
              <a:rPr spc="-15" dirty="0"/>
              <a:t> </a:t>
            </a:r>
            <a:r>
              <a:rPr spc="-25" dirty="0"/>
              <a:t>825</a:t>
            </a:r>
          </a:p>
          <a:p>
            <a:pPr>
              <a:lnSpc>
                <a:spcPct val="100000"/>
              </a:lnSpc>
            </a:pPr>
            <a:endParaRPr spc="-25" dirty="0"/>
          </a:p>
          <a:p>
            <a:pPr>
              <a:lnSpc>
                <a:spcPct val="100000"/>
              </a:lnSpc>
              <a:spcBef>
                <a:spcPts val="229"/>
              </a:spcBef>
            </a:pPr>
            <a:endParaRPr spc="-25" dirty="0"/>
          </a:p>
          <a:p>
            <a:pPr marR="5080" algn="r">
              <a:lnSpc>
                <a:spcPct val="100000"/>
              </a:lnSpc>
            </a:pPr>
            <a:r>
              <a:rPr sz="2200" b="0" spc="-25" dirty="0">
                <a:latin typeface="Times New Roman"/>
                <a:cs typeface="Times New Roman"/>
              </a:rPr>
              <a:t>BY:</a:t>
            </a:r>
            <a:endParaRPr sz="2200">
              <a:latin typeface="Times New Roman"/>
              <a:cs typeface="Times New Roman"/>
            </a:endParaRPr>
          </a:p>
          <a:p>
            <a:pPr marR="8255" algn="r">
              <a:lnSpc>
                <a:spcPct val="100000"/>
              </a:lnSpc>
              <a:spcBef>
                <a:spcPts val="994"/>
              </a:spcBef>
            </a:pPr>
            <a:r>
              <a:rPr sz="2200" b="0" dirty="0">
                <a:latin typeface="Times New Roman"/>
                <a:cs typeface="Times New Roman"/>
              </a:rPr>
              <a:t>Akshath</a:t>
            </a:r>
            <a:r>
              <a:rPr sz="2200" b="0" spc="-75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Shetty</a:t>
            </a:r>
            <a:endParaRPr sz="2200">
              <a:latin typeface="Times New Roman"/>
              <a:cs typeface="Times New Roman"/>
            </a:endParaRPr>
          </a:p>
          <a:p>
            <a:pPr marL="5581015" marR="5080" indent="1156970" algn="r">
              <a:lnSpc>
                <a:spcPct val="137800"/>
              </a:lnSpc>
              <a:spcBef>
                <a:spcPts val="10"/>
              </a:spcBef>
            </a:pPr>
            <a:r>
              <a:rPr sz="2200" b="0" dirty="0">
                <a:latin typeface="Times New Roman"/>
                <a:cs typeface="Times New Roman"/>
              </a:rPr>
              <a:t>Navya</a:t>
            </a:r>
            <a:r>
              <a:rPr sz="2200" b="0" spc="-75" dirty="0">
                <a:latin typeface="Times New Roman"/>
                <a:cs typeface="Times New Roman"/>
              </a:rPr>
              <a:t> </a:t>
            </a:r>
            <a:r>
              <a:rPr sz="2200" b="0" spc="-40" dirty="0">
                <a:latin typeface="Times New Roman"/>
                <a:cs typeface="Times New Roman"/>
              </a:rPr>
              <a:t>Varanasi </a:t>
            </a:r>
            <a:r>
              <a:rPr sz="2200" b="0" dirty="0">
                <a:latin typeface="Times New Roman"/>
                <a:cs typeface="Times New Roman"/>
              </a:rPr>
              <a:t>Kamepalli</a:t>
            </a:r>
            <a:r>
              <a:rPr sz="2200" b="0" spc="-90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Siddardha </a:t>
            </a:r>
            <a:r>
              <a:rPr sz="2200" b="0" dirty="0">
                <a:latin typeface="Times New Roman"/>
                <a:cs typeface="Times New Roman"/>
              </a:rPr>
              <a:t>Kanal</a:t>
            </a:r>
            <a:r>
              <a:rPr sz="2200" b="0" spc="-65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Ram</a:t>
            </a:r>
            <a:r>
              <a:rPr sz="2200" b="0" spc="-50" dirty="0">
                <a:latin typeface="Times New Roman"/>
                <a:cs typeface="Times New Roman"/>
              </a:rPr>
              <a:t> </a:t>
            </a:r>
            <a:r>
              <a:rPr sz="2200" b="0" dirty="0">
                <a:latin typeface="Times New Roman"/>
                <a:cs typeface="Times New Roman"/>
              </a:rPr>
              <a:t>Kumar</a:t>
            </a:r>
            <a:r>
              <a:rPr sz="2200" b="0" spc="-40" dirty="0">
                <a:latin typeface="Times New Roman"/>
                <a:cs typeface="Times New Roman"/>
              </a:rPr>
              <a:t> </a:t>
            </a:r>
            <a:r>
              <a:rPr sz="2200" b="0" spc="-10" dirty="0">
                <a:latin typeface="Times New Roman"/>
                <a:cs typeface="Times New Roman"/>
              </a:rPr>
              <a:t>Reddy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46297"/>
            <a:ext cx="51422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pc="-10" dirty="0"/>
              <a:t>                        </a:t>
            </a:r>
            <a:r>
              <a:rPr lang="en-IN" dirty="0"/>
              <a:t>Project Objective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311910" y="1393316"/>
            <a:ext cx="980122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>
              <a:lnSpc>
                <a:spcPct val="100000"/>
              </a:lnSpc>
              <a:spcBef>
                <a:spcPts val="100"/>
              </a:spcBef>
              <a:tabLst>
                <a:tab pos="299085" algn="l"/>
              </a:tabLst>
            </a:pPr>
            <a:endParaRPr lang="en-IN" sz="1800" dirty="0">
              <a:latin typeface="Times New Roman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506D6-6FDE-EFB3-BFB9-8B99A1170700}"/>
              </a:ext>
            </a:extLst>
          </p:cNvPr>
          <p:cNvSpPr txBox="1"/>
          <p:nvPr/>
        </p:nvSpPr>
        <p:spPr>
          <a:xfrm>
            <a:off x="118980" y="685800"/>
            <a:ext cx="103204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  <a:effectLst/>
              </a:rPr>
              <a:t>Core Objectives</a:t>
            </a:r>
            <a:endParaRPr lang="en-US" dirty="0">
              <a:solidFill>
                <a:srgbClr val="FFFF00"/>
              </a:solidFill>
              <a:effectLst/>
            </a:endParaRP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Analyze end-to-end supply chain performance from supplier to customer delivery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Measure and compare KPIs across three product categories: Cosmetics, Haircare, and Skincare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Identify revenue drivers and highest-margin segments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Uncover operational bottlenecks in inventory, fulfillment, logistics, and quality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Detect data quality issues and anomalies affecting reporting accuracy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Evaluate supplier and shipping carrier effectiveness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Quantify impact of defects, delays, and stock-outs on profitability and customer satisfaction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Deliver data-driven, actionable recommendations to improve efficiency, reduce costs, and boost revenue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F22E147-F28C-50DC-2ED9-11EB71743721}"/>
              </a:ext>
            </a:extLst>
          </p:cNvPr>
          <p:cNvSpPr txBox="1"/>
          <p:nvPr/>
        </p:nvSpPr>
        <p:spPr>
          <a:xfrm>
            <a:off x="106690" y="3657600"/>
            <a:ext cx="103204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solidFill>
                  <a:srgbClr val="FFFF00"/>
                </a:solidFill>
                <a:effectLst/>
              </a:rPr>
              <a:t>Scope of Analysis</a:t>
            </a:r>
            <a:r>
              <a:rPr lang="en-US" dirty="0">
                <a:solidFill>
                  <a:srgbClr val="FFFF00"/>
                </a:solidFill>
                <a:effectLst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</a:rPr>
              <a:t>• 100 SKUs | 46,099 units sold | $577K revenue • 5 suppliers | 3 shipping carriers | 5 locations • Metrics covered: Revenue, Profitability, Stock Turnover, Fill Rate, On-Time Delivery, Defect Rate, Supplier Margin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  <a:effectLst/>
              </a:rPr>
              <a:t>Deliverables</a:t>
            </a:r>
            <a:r>
              <a:rPr lang="en-US" dirty="0">
                <a:solidFill>
                  <a:schemeClr val="bg1"/>
                </a:solidFill>
                <a:effectLst/>
              </a:rPr>
              <a:t> ✓ Interactive Power BI Dashboard (2 pages) ✓ Cleaned insights with root-cause analysis ✓ Prioritized recommendations with business impact ✓ Professional presentation for management review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  <a:effectLst/>
              </a:rPr>
              <a:t>Outcome Expected</a:t>
            </a:r>
            <a:r>
              <a:rPr lang="en-US" dirty="0">
                <a:solidFill>
                  <a:srgbClr val="FFFF00"/>
                </a:solidFill>
                <a:effectLst/>
              </a:rPr>
              <a:t> </a:t>
            </a:r>
            <a:r>
              <a:rPr lang="en-US" dirty="0">
                <a:solidFill>
                  <a:schemeClr val="bg1"/>
                </a:solidFill>
                <a:effectLst/>
              </a:rPr>
              <a:t>Enable data-driven decision making to increase on-time delivery &gt;90%, reduce defects &lt;1%, and grow Skincare-led revenue by 20%+ in the next 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21B0A-3374-0830-5F2A-B2567BDD6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3E59B29-CCA7-18F1-787E-25EC39951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4800" y="226585"/>
            <a:ext cx="3429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Dataset Overview</a:t>
            </a:r>
            <a:endParaRPr spc="-10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E2D50986-ADD5-0201-DE20-7CC45B07C4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29072"/>
            <a:ext cx="3429000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SKUs: 100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Revenue: $5.77M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Quantity Sold: 46,099 Units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Total Profit: $5.19M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Gross Margin: ~89.9%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Defect Rate: 2.28%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Shipping Time: 5.75 Days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Turnover Rate: 965.02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On-Time Delivery %: 83%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FFAF6E-29B0-460E-F985-9FEF41D38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488" y="850750"/>
            <a:ext cx="7696200" cy="1289416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7AB172E7-6CD6-21B0-E397-22F73A1F61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6633" y="3437489"/>
            <a:ext cx="484139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Product (Cosmetics, Haircare, Skincare)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Supplier (5 suppliers)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Location (Bangalore, Chennai, Delhi, Kolkata, Mumbai)</a:t>
            </a:r>
          </a:p>
          <a:p>
            <a:pPr marL="285750" indent="-285750" algn="l" rtl="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Arial" panose="020B0604020202020204" pitchFamily="34" charset="0"/>
              </a:rPr>
              <a:t>Customer Demographics (Male, Female, Unknown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0CD0A6-66F6-37C2-90A9-6A801F291725}"/>
              </a:ext>
            </a:extLst>
          </p:cNvPr>
          <p:cNvSpPr txBox="1"/>
          <p:nvPr/>
        </p:nvSpPr>
        <p:spPr>
          <a:xfrm>
            <a:off x="140258" y="235974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Summary of Core KPIs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0A8A9E-CF83-6757-CDCA-E52BFFBCF809}"/>
              </a:ext>
            </a:extLst>
          </p:cNvPr>
          <p:cNvSpPr txBox="1"/>
          <p:nvPr/>
        </p:nvSpPr>
        <p:spPr>
          <a:xfrm>
            <a:off x="3821128" y="3006341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Dimensions Analysed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6F6926-618F-A425-8612-9DF5DE3EA13F}"/>
              </a:ext>
            </a:extLst>
          </p:cNvPr>
          <p:cNvSpPr txBox="1"/>
          <p:nvPr/>
        </p:nvSpPr>
        <p:spPr>
          <a:xfrm>
            <a:off x="342900" y="5154850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Insights </a:t>
            </a:r>
          </a:p>
        </p:txBody>
      </p:sp>
      <p:sp>
        <p:nvSpPr>
          <p:cNvPr id="19" name="Rectangle 7">
            <a:extLst>
              <a:ext uri="{FF2B5EF4-FFF2-40B4-BE49-F238E27FC236}">
                <a16:creationId xmlns:a16="http://schemas.microsoft.com/office/drawing/2014/main" id="{A90529DE-0BE3-0682-1F76-892AEB1E6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187" y="5447100"/>
            <a:ext cx="558081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Skincare is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largest revenue contributor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($2.41M), followed by Haircare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and Cosmetics.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Gross margin is extremely strong (~90%), indicating lower cost structures.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Average defect rate of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2.28%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acceptable but has room for reduction.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Turnover rate is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high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showing strong movement of inventory.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On-time delivery at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83%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signals a need to improve logistics efficiency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606F72-1CE1-ECFC-5BFF-C5AB7ED05945}"/>
              </a:ext>
            </a:extLst>
          </p:cNvPr>
          <p:cNvSpPr txBox="1"/>
          <p:nvPr/>
        </p:nvSpPr>
        <p:spPr>
          <a:xfrm>
            <a:off x="5971443" y="5122183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Recommendations</a:t>
            </a:r>
          </a:p>
        </p:txBody>
      </p:sp>
      <p:sp>
        <p:nvSpPr>
          <p:cNvPr id="21" name="Rectangle 8">
            <a:extLst>
              <a:ext uri="{FF2B5EF4-FFF2-40B4-BE49-F238E27FC236}">
                <a16:creationId xmlns:a16="http://schemas.microsoft.com/office/drawing/2014/main" id="{1F340320-F43D-4F3B-162F-A974C8DEE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3713" y="5673038"/>
            <a:ext cx="61341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Improve shipping efficiency by optimizing routes to boost on-time delivery beyond 90%.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Revisit suppliers with higher defect rates and renegotiate quality SLAs.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 focus 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Skincare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category as it drives majority revenue and profit.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Use predictive demand planning to reduce stock levels without impacting service rat</a:t>
            </a:r>
          </a:p>
        </p:txBody>
      </p:sp>
    </p:spTree>
    <p:extLst>
      <p:ext uri="{BB962C8B-B14F-4D97-AF65-F5344CB8AC3E}">
        <p14:creationId xmlns:p14="http://schemas.microsoft.com/office/powerpoint/2010/main" val="3935488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2D11-4993-AD6C-DD62-FD91FC4E8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A67CD637-9BE5-0DAD-8D06-AC9729B80E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76200"/>
            <a:ext cx="3429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Over View Dashboard</a:t>
            </a:r>
            <a:endParaRPr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8F24FA-D94B-D0F1-A463-BBD65D9CDF4F}"/>
              </a:ext>
            </a:extLst>
          </p:cNvPr>
          <p:cNvSpPr txBox="1"/>
          <p:nvPr/>
        </p:nvSpPr>
        <p:spPr>
          <a:xfrm>
            <a:off x="381000" y="5498145"/>
            <a:ext cx="480060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  <a:effectLst/>
              </a:rPr>
              <a:t>Key Highlights from Overview</a:t>
            </a:r>
            <a:endParaRPr lang="en-US" sz="1600" dirty="0">
              <a:solidFill>
                <a:schemeClr val="bg1"/>
              </a:solidFill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Skincare dominates revenue → $241.6K (42%)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Highest revenue carrier → Carrier B ($250K+)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effectLst/>
              </a:rPr>
              <a:t>Top 5 SKUs = 4,889 units (10% of total volume)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  <a:effectLst/>
              </a:rPr>
              <a:t>29% revenue from “Unknown” gender → </a:t>
            </a:r>
          </a:p>
          <a:p>
            <a:r>
              <a:rPr lang="en-US" sz="1200" b="1" dirty="0">
                <a:solidFill>
                  <a:srgbClr val="FF0000"/>
                </a:solidFill>
                <a:effectLst/>
              </a:rPr>
              <a:t>data quality issue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F57DE93-81D6-6767-A450-7ABCB3047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589724"/>
            <a:ext cx="8763000" cy="477705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11F1A8-ED93-9108-AC4E-72DC0FDB67D5}"/>
              </a:ext>
            </a:extLst>
          </p:cNvPr>
          <p:cNvSpPr txBox="1"/>
          <p:nvPr/>
        </p:nvSpPr>
        <p:spPr>
          <a:xfrm>
            <a:off x="4381500" y="5490225"/>
            <a:ext cx="3429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FFFF00"/>
                </a:solidFill>
                <a:effectLst/>
              </a:rPr>
              <a:t>Recommendation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Make gender field mandatory in order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Route 80%+ shipments via Carrier B</a:t>
            </a:r>
          </a:p>
        </p:txBody>
      </p:sp>
    </p:spTree>
    <p:extLst>
      <p:ext uri="{BB962C8B-B14F-4D97-AF65-F5344CB8AC3E}">
        <p14:creationId xmlns:p14="http://schemas.microsoft.com/office/powerpoint/2010/main" val="1272134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0ADD8-BB7A-D6F9-4005-42B0806A1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5DEB879-998E-8ABB-C0CA-1F497A498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81200" y="140490"/>
            <a:ext cx="6400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Product Performance Dashboard</a:t>
            </a:r>
            <a:br>
              <a:rPr lang="en-IN" dirty="0"/>
            </a:br>
            <a:endParaRPr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0EBBA0-F2C1-317D-245B-0D4921344E5C}"/>
              </a:ext>
            </a:extLst>
          </p:cNvPr>
          <p:cNvSpPr txBox="1"/>
          <p:nvPr/>
        </p:nvSpPr>
        <p:spPr>
          <a:xfrm>
            <a:off x="228600" y="5714137"/>
            <a:ext cx="6096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solidFill>
                  <a:srgbClr val="FFFF00"/>
                </a:solidFill>
                <a:effectLst/>
              </a:rPr>
              <a:t>Quick Observations</a:t>
            </a:r>
          </a:p>
          <a:p>
            <a:pPr>
              <a:buNone/>
            </a:pPr>
            <a:r>
              <a:rPr lang="en-US" sz="1200" dirty="0">
                <a:solidFill>
                  <a:schemeClr val="bg1"/>
                </a:solidFill>
                <a:effectLst/>
              </a:rPr>
              <a:t> • Skincare: Highest revenue + balanced stock turn (15.7x) • Haircare: Insane stock turn of 281x → possible data error in few SKUs </a:t>
            </a:r>
          </a:p>
          <a:p>
            <a:pPr>
              <a:buNone/>
            </a:pPr>
            <a:r>
              <a:rPr lang="en-US" sz="1200" dirty="0">
                <a:solidFill>
                  <a:schemeClr val="bg1"/>
                </a:solidFill>
                <a:effectLst/>
              </a:rPr>
              <a:t>• Cosmetics: Lowest order fill rate (73.08%) → planning/forecasting issue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94EA1F-4183-283A-426F-6DE8EFD7F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685800"/>
            <a:ext cx="8763759" cy="4922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9CC3CA-8E2B-14CC-0F26-AA55847B5221}"/>
              </a:ext>
            </a:extLst>
          </p:cNvPr>
          <p:cNvSpPr txBox="1"/>
          <p:nvPr/>
        </p:nvSpPr>
        <p:spPr>
          <a:xfrm>
            <a:off x="6324600" y="581630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00"/>
                </a:solidFill>
                <a:effectLst/>
              </a:rPr>
              <a:t>Recommendation</a:t>
            </a:r>
            <a:endParaRPr lang="en-US" sz="1600" dirty="0">
              <a:solidFill>
                <a:srgbClr val="FFFF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Immediate data cleaning of “Number_of_products_sold”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Urgent fix needed for Cosmetics demand planning</a:t>
            </a:r>
          </a:p>
        </p:txBody>
      </p:sp>
    </p:spTree>
    <p:extLst>
      <p:ext uri="{BB962C8B-B14F-4D97-AF65-F5344CB8AC3E}">
        <p14:creationId xmlns:p14="http://schemas.microsoft.com/office/powerpoint/2010/main" val="1131321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D595-8257-BFAD-0D91-0CD81F85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28EAE39-B95C-9378-BDAC-425ADDB610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62400" y="242052"/>
            <a:ext cx="3200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Revenue Breakdown</a:t>
            </a:r>
            <a:endParaRPr spc="-1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CCEB35-400B-A1EF-2A5F-014CB66B3D2B}"/>
              </a:ext>
            </a:extLst>
          </p:cNvPr>
          <p:cNvSpPr txBox="1"/>
          <p:nvPr/>
        </p:nvSpPr>
        <p:spPr>
          <a:xfrm>
            <a:off x="228600" y="4088011"/>
            <a:ext cx="6096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  <a:effectLst/>
              </a:rPr>
              <a:t>Revenue by Category </a:t>
            </a:r>
          </a:p>
          <a:p>
            <a:endParaRPr lang="en-IN" sz="1400" dirty="0">
              <a:solidFill>
                <a:schemeClr val="bg1"/>
              </a:solidFill>
              <a:effectLst/>
            </a:endParaRPr>
          </a:p>
          <a:p>
            <a:r>
              <a:rPr lang="en-IN" sz="1400" dirty="0">
                <a:solidFill>
                  <a:schemeClr val="bg1"/>
                </a:solidFill>
                <a:effectLst/>
              </a:rPr>
              <a:t>Skincare 42% ███████████ </a:t>
            </a:r>
          </a:p>
          <a:p>
            <a:endParaRPr lang="en-IN" sz="1400" dirty="0">
              <a:solidFill>
                <a:schemeClr val="bg1"/>
              </a:solidFill>
              <a:effectLst/>
            </a:endParaRPr>
          </a:p>
          <a:p>
            <a:r>
              <a:rPr lang="en-IN" sz="1400" dirty="0">
                <a:solidFill>
                  <a:schemeClr val="bg1"/>
                </a:solidFill>
                <a:effectLst/>
              </a:rPr>
              <a:t>Haircare 30% ███████ </a:t>
            </a:r>
          </a:p>
          <a:p>
            <a:endParaRPr lang="en-IN" sz="1400" dirty="0">
              <a:solidFill>
                <a:schemeClr val="bg1"/>
              </a:solidFill>
              <a:effectLst/>
            </a:endParaRPr>
          </a:p>
          <a:p>
            <a:r>
              <a:rPr lang="en-IN" sz="1400" dirty="0">
                <a:solidFill>
                  <a:schemeClr val="bg1"/>
                </a:solidFill>
                <a:effectLst/>
              </a:rPr>
              <a:t>Cosmetics 28% ██████</a:t>
            </a:r>
          </a:p>
          <a:p>
            <a:endParaRPr lang="en-IN" sz="140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endParaRPr lang="en-US" sz="140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8B73F-B84B-5D37-3D69-9744D50FF60F}"/>
              </a:ext>
            </a:extLst>
          </p:cNvPr>
          <p:cNvSpPr txBox="1"/>
          <p:nvPr/>
        </p:nvSpPr>
        <p:spPr>
          <a:xfrm>
            <a:off x="7315200" y="3962400"/>
            <a:ext cx="5029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Revenue by Gender </a:t>
            </a:r>
          </a:p>
          <a:p>
            <a:endParaRPr lang="en-IN" dirty="0">
              <a:solidFill>
                <a:srgbClr val="FFFF00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  <a:effectLst/>
              </a:rPr>
              <a:t>Unknown 29.97% </a:t>
            </a:r>
          </a:p>
          <a:p>
            <a:r>
              <a:rPr lang="en-IN" sz="1600" dirty="0">
                <a:solidFill>
                  <a:schemeClr val="bg1"/>
                </a:solidFill>
                <a:effectLst/>
              </a:rPr>
              <a:t>Female 27.96% </a:t>
            </a:r>
          </a:p>
          <a:p>
            <a:r>
              <a:rPr lang="en-IN" sz="1600" dirty="0">
                <a:solidFill>
                  <a:schemeClr val="bg1"/>
                </a:solidFill>
                <a:effectLst/>
              </a:rPr>
              <a:t>Male 21.92% </a:t>
            </a:r>
          </a:p>
          <a:p>
            <a:r>
              <a:rPr lang="en-IN" sz="1600" dirty="0">
                <a:solidFill>
                  <a:schemeClr val="bg1"/>
                </a:solidFill>
                <a:effectLst/>
              </a:rPr>
              <a:t>Non-binary 20.15%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992664-F8E8-6F8D-FFCE-159FF6ACC5C6}"/>
              </a:ext>
            </a:extLst>
          </p:cNvPr>
          <p:cNvSpPr txBox="1"/>
          <p:nvPr/>
        </p:nvSpPr>
        <p:spPr>
          <a:xfrm>
            <a:off x="2362200" y="584096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rgbClr val="C00000"/>
                </a:solidFill>
                <a:effectLst/>
              </a:rPr>
              <a:t>Insight: Almost 30% customers not tagged → improve CRM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EE2354-D360-1064-0AC0-E4D973C86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0" y="1207689"/>
            <a:ext cx="3810000" cy="26558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EC0A62-7707-9269-4208-FB1D36BE7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344183"/>
            <a:ext cx="4043594" cy="249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153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A80A0-EE9D-15EA-F91C-3C9B49E6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19308F31-FDF2-46EC-50AB-8DE1CFED40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3800" y="455253"/>
            <a:ext cx="3200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Category Comparison</a:t>
            </a:r>
            <a:endParaRPr spc="-1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EEDA77-A4AE-1C42-D65A-8CC869749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611865"/>
              </p:ext>
            </p:extLst>
          </p:nvPr>
        </p:nvGraphicFramePr>
        <p:xfrm>
          <a:off x="1219200" y="1371600"/>
          <a:ext cx="9296397" cy="2560320"/>
        </p:xfrm>
        <a:graphic>
          <a:graphicData uri="http://schemas.openxmlformats.org/drawingml/2006/table">
            <a:tbl>
              <a:tblPr/>
              <a:tblGrid>
                <a:gridCol w="1032933">
                  <a:extLst>
                    <a:ext uri="{9D8B030D-6E8A-4147-A177-3AD203B41FA5}">
                      <a16:colId xmlns:a16="http://schemas.microsoft.com/office/drawing/2014/main" val="15979402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2882837562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957365339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50880850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3595660173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1143991708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818562537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1226005701"/>
                    </a:ext>
                  </a:extLst>
                </a:gridCol>
                <a:gridCol w="1032933">
                  <a:extLst>
                    <a:ext uri="{9D8B030D-6E8A-4147-A177-3AD203B41FA5}">
                      <a16:colId xmlns:a16="http://schemas.microsoft.com/office/drawing/2014/main" val="3746485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Revenue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Units Sold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SKUs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Stock Available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Stock Turn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Fill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Defect 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Winner?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9988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Skincare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$241.6K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20,731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5,243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15.7x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85.0%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2.33%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★★★★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446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Haircare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$174.5K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13,611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7,990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281x ??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88.2%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2.48%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Data error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23782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Cosmetics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$161.5K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11,757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2,229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200x ??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73.1%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1.92%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Needs urgent fix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0295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47B8F1-7610-1A1B-E525-ABD7850B9256}"/>
              </a:ext>
            </a:extLst>
          </p:cNvPr>
          <p:cNvSpPr txBox="1"/>
          <p:nvPr/>
        </p:nvSpPr>
        <p:spPr>
          <a:xfrm>
            <a:off x="228600" y="4724400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00"/>
                </a:solidFill>
                <a:effectLst/>
              </a:rPr>
              <a:t>insights</a:t>
            </a:r>
            <a:endParaRPr lang="en-US" sz="1600" dirty="0">
              <a:solidFill>
                <a:srgbClr val="FFFF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Cosmetics bleeding revenue due to low fill rate &amp; low stock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Stock turn numbers are meaningless until data is cleaned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45F8B7-D222-C38A-9BD0-26808A628D38}"/>
              </a:ext>
            </a:extLst>
          </p:cNvPr>
          <p:cNvSpPr txBox="1"/>
          <p:nvPr/>
        </p:nvSpPr>
        <p:spPr>
          <a:xfrm>
            <a:off x="5334000" y="4511414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00"/>
                </a:solidFill>
                <a:effectLst/>
              </a:rPr>
              <a:t>Recommendation</a:t>
            </a:r>
            <a:endParaRPr lang="en-US" sz="1600" dirty="0">
              <a:solidFill>
                <a:srgbClr val="FFFF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Increase Cosmetics safety stock by 50%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Block reporting until “sold vs produced” data is corrected</a:t>
            </a:r>
          </a:p>
        </p:txBody>
      </p:sp>
    </p:spTree>
    <p:extLst>
      <p:ext uri="{BB962C8B-B14F-4D97-AF65-F5344CB8AC3E}">
        <p14:creationId xmlns:p14="http://schemas.microsoft.com/office/powerpoint/2010/main" val="32840143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C3054-7089-1734-77FF-C9CFABE39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D7C9B5C-DAAA-ECE9-1070-B9124E037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3800" y="455253"/>
            <a:ext cx="32004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Logistics Performance</a:t>
            </a:r>
            <a:endParaRPr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36ECC2-84CD-EDB2-F812-8224BBDB6403}"/>
              </a:ext>
            </a:extLst>
          </p:cNvPr>
          <p:cNvSpPr txBox="1"/>
          <p:nvPr/>
        </p:nvSpPr>
        <p:spPr>
          <a:xfrm>
            <a:off x="152400" y="3588409"/>
            <a:ext cx="6096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solidFill>
                  <a:srgbClr val="FFC000"/>
                </a:solidFill>
                <a:effectLst/>
              </a:rPr>
              <a:t>Shipping Revenue Handled 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effectLst/>
              </a:rPr>
              <a:t>Carrier B $250K+ █████████████</a:t>
            </a:r>
          </a:p>
          <a:p>
            <a:pPr>
              <a:buNone/>
            </a:pPr>
            <a:endParaRPr lang="en-IN" sz="160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effectLst/>
              </a:rPr>
              <a:t> Carrier C $180K █████████ </a:t>
            </a:r>
          </a:p>
          <a:p>
            <a:pPr>
              <a:buNone/>
            </a:pPr>
            <a:endParaRPr lang="en-IN" sz="160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effectLst/>
              </a:rPr>
              <a:t>Carrier A $140K ██████</a:t>
            </a:r>
          </a:p>
          <a:p>
            <a:pPr>
              <a:buNone/>
            </a:pPr>
            <a:endParaRPr lang="en-IN" sz="160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effectLst/>
              </a:rPr>
              <a:t>On-Time Delivery: 83% </a:t>
            </a:r>
          </a:p>
          <a:p>
            <a:pPr>
              <a:buNone/>
            </a:pPr>
            <a:r>
              <a:rPr lang="en-IN" sz="1600" dirty="0">
                <a:solidFill>
                  <a:schemeClr val="bg1"/>
                </a:solidFill>
                <a:effectLst/>
              </a:rPr>
              <a:t>17% orders delayed → biggest customer complaint risk Average shipping time: 5.75 days</a:t>
            </a:r>
          </a:p>
          <a:p>
            <a:pPr>
              <a:buNone/>
            </a:pPr>
            <a:r>
              <a:rPr lang="en-IN" sz="1600" dirty="0">
                <a:solidFill>
                  <a:srgbClr val="FFC000"/>
                </a:solidFill>
                <a:effectLst/>
              </a:rPr>
              <a:t>Action: Give 80% volume to Carrier 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0D2D44-C583-12B3-8E59-F080F6FB8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45" y="1295400"/>
            <a:ext cx="2469094" cy="16536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598FD30-E1DC-0E72-54B3-F2F207CFE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374" y="1476735"/>
            <a:ext cx="5648237" cy="1153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948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57CDE-FB5C-A13F-6571-F737EFEE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F00C6EC-F2E8-D527-E4E3-E0581A34CD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3800" y="455253"/>
            <a:ext cx="266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Quality &amp; Defects</a:t>
            </a:r>
            <a:endParaRPr spc="-1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EAE0A-990C-9C05-9BF1-DEA416C013DC}"/>
              </a:ext>
            </a:extLst>
          </p:cNvPr>
          <p:cNvSpPr txBox="1"/>
          <p:nvPr/>
        </p:nvSpPr>
        <p:spPr>
          <a:xfrm>
            <a:off x="76200" y="532552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Average Defect Rate: 2.28% Defect Share by Category Haircare 36.86% Skincare 34.65% Cosmetics 28.49%</a:t>
            </a: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Top 5 worst SKUs → SKU10, SKU94, SKU9, SKU36, SKU37</a:t>
            </a:r>
          </a:p>
          <a:p>
            <a:pPr>
              <a:buNone/>
            </a:pPr>
            <a:r>
              <a:rPr lang="en-IN" sz="1200" b="1" dirty="0">
                <a:solidFill>
                  <a:schemeClr val="bg1"/>
                </a:solidFill>
                <a:effectLst/>
              </a:rPr>
              <a:t>Many inspections still “Pending” → slow QC 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ED6A7C-0145-C6FC-8E00-C03E441E049F}"/>
              </a:ext>
            </a:extLst>
          </p:cNvPr>
          <p:cNvSpPr txBox="1"/>
          <p:nvPr/>
        </p:nvSpPr>
        <p:spPr>
          <a:xfrm>
            <a:off x="6477000" y="4953000"/>
            <a:ext cx="5791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FFFF00"/>
                </a:solidFill>
                <a:effectLst/>
              </a:rPr>
              <a:t>Insight</a:t>
            </a:r>
            <a:endParaRPr lang="en-US" sz="1600" dirty="0">
              <a:solidFill>
                <a:srgbClr val="FFFF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Haircare contributes maximum defects (36.86%)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Many inspections still “Pending” → slow closure</a:t>
            </a:r>
          </a:p>
          <a:p>
            <a:pPr>
              <a:buNone/>
            </a:pPr>
            <a:r>
              <a:rPr lang="en-US" sz="1600" b="1" dirty="0">
                <a:solidFill>
                  <a:srgbClr val="FFFF00"/>
                </a:solidFill>
                <a:effectLst/>
              </a:rPr>
              <a:t>Recommendation</a:t>
            </a:r>
            <a:endParaRPr lang="en-US" sz="1600" dirty="0">
              <a:solidFill>
                <a:srgbClr val="FFFF00"/>
              </a:solidFill>
              <a:effectLst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Increase QC staff/checks for Haircare SKUs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Implement 48-hour maximum pending inspection rule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5B0E2C-057B-502D-573C-50B0C2F40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219200"/>
            <a:ext cx="4838803" cy="329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64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7203D-4718-F8E5-713B-154FE83C6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B805214B-50EE-2DDA-8CF0-1843EC437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3800" y="455253"/>
            <a:ext cx="266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Supplier Ranking</a:t>
            </a:r>
            <a:endParaRPr spc="-1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9D1E89-2070-7645-2BF9-E163355DC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432338"/>
              </p:ext>
            </p:extLst>
          </p:nvPr>
        </p:nvGraphicFramePr>
        <p:xfrm>
          <a:off x="152400" y="4114800"/>
          <a:ext cx="8504236" cy="2468880"/>
        </p:xfrm>
        <a:graphic>
          <a:graphicData uri="http://schemas.openxmlformats.org/drawingml/2006/table">
            <a:tbl>
              <a:tblPr/>
              <a:tblGrid>
                <a:gridCol w="2126059">
                  <a:extLst>
                    <a:ext uri="{9D8B030D-6E8A-4147-A177-3AD203B41FA5}">
                      <a16:colId xmlns:a16="http://schemas.microsoft.com/office/drawing/2014/main" val="2000074157"/>
                    </a:ext>
                  </a:extLst>
                </a:gridCol>
                <a:gridCol w="2126059">
                  <a:extLst>
                    <a:ext uri="{9D8B030D-6E8A-4147-A177-3AD203B41FA5}">
                      <a16:colId xmlns:a16="http://schemas.microsoft.com/office/drawing/2014/main" val="1780902654"/>
                    </a:ext>
                  </a:extLst>
                </a:gridCol>
                <a:gridCol w="2126059">
                  <a:extLst>
                    <a:ext uri="{9D8B030D-6E8A-4147-A177-3AD203B41FA5}">
                      <a16:colId xmlns:a16="http://schemas.microsoft.com/office/drawing/2014/main" val="2467692339"/>
                    </a:ext>
                  </a:extLst>
                </a:gridCol>
                <a:gridCol w="2126059">
                  <a:extLst>
                    <a:ext uri="{9D8B030D-6E8A-4147-A177-3AD203B41FA5}">
                      <a16:colId xmlns:a16="http://schemas.microsoft.com/office/drawing/2014/main" val="6030285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Supplier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FFFF00"/>
                          </a:solidFill>
                        </a:rPr>
                        <a:t>Profit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FF00"/>
                          </a:solidFill>
                        </a:rPr>
                        <a:t>Recommendation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573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Supplier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92.07%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Increase 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2033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Supplier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90.43%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Strong performer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944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Supplier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90.14%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Reliable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804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Supplier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89.28%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Good 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39287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Supplier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87.71%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Renegotiate or reduce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133913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5A72117-D66D-1480-833F-E6A31AA07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940669"/>
            <a:ext cx="4495800" cy="286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50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22770-5B7F-CE1D-5ECA-B2B33914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C55E1C0-9C9A-250A-373C-36A577DC20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33800" y="455253"/>
            <a:ext cx="2667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Top Insights</a:t>
            </a:r>
            <a:endParaRPr spc="-1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863238D-3769-4094-186E-9E1FCB496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1" y="843677"/>
            <a:ext cx="70104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Skincare is the growth engine (42% revenue)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89.92% gross margin → excellent premium positioning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Stock turnover numbers are wrong → data quality issue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Cosmetics losing sales daily (only 73% fill rate)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17% delayed deliveries → customer satisfaction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Carrier B is the best performer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Supplier 3 &amp; 5 are stars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30% revenue from “Unknown” gender → fix data capture 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D4BDD33-ABDA-0B20-654A-F0802826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3553481"/>
            <a:ext cx="5867399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Recommendation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Skincare = growth engine → invest heavily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89.92% margin → excellent premium strategy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Stock turnover data is corrupted → clean immediately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Cosmetics losing sales daily (73% fill rate)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17% delayed deliveries → customer satisfaction risk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Carrier B is the winner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Supplier 3 &amp; 5 are stars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30% revenue untagged gender → fix data capture </a:t>
            </a:r>
          </a:p>
        </p:txBody>
      </p:sp>
    </p:spTree>
    <p:extLst>
      <p:ext uri="{BB962C8B-B14F-4D97-AF65-F5344CB8AC3E}">
        <p14:creationId xmlns:p14="http://schemas.microsoft.com/office/powerpoint/2010/main" val="2677148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4A293-EEFA-C6EF-DEEC-CB9AD01D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3EA949CE-AFA2-7D28-C964-EAE816AA4E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48000" y="609600"/>
            <a:ext cx="525780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IN" spc="-10" dirty="0"/>
              <a:t> </a:t>
            </a:r>
            <a:r>
              <a:rPr lang="en-IN" dirty="0"/>
              <a:t>Recommendations &amp; Action Plan</a:t>
            </a:r>
            <a:br>
              <a:rPr lang="en-IN" dirty="0"/>
            </a:br>
            <a:endParaRPr spc="-1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8429F9-FE2C-DD13-9A3C-BDD276B2F1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221939"/>
            <a:ext cx="595868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Clean “Number_of_products_sold” column immediately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 focus &amp; inventory on Skincare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Fix Cosmetics fulfillment → target &gt;92% fill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Shift maximum shipments to Carrier 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Give more business to Supplier 3 &amp;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Speed up QC inspection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Make gender field mandatory in orders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Set alert for any SKU where Sold &gt; Produced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57F89F3-7A05-87E3-55B7-81F6FE2FB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965139"/>
            <a:ext cx="6042039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IN" spc="-10" dirty="0">
                <a:solidFill>
                  <a:srgbClr val="FFFF00"/>
                </a:solidFill>
              </a:rPr>
              <a:t> How to Act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Clean “Number_of_products_sold” column (Priority #1)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Increase inventory &amp; marketing budget for Skincare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Fix Cosmetics fulfillment process → target &gt;92% fill rate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Route 80%+ shipments via Carrier B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Give 30% more volume to Supplier 3 &amp; 5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Speed up QC closure (max 48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pending)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Make gender field mandatory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Set monthly data quality audit </a:t>
            </a:r>
          </a:p>
        </p:txBody>
      </p:sp>
    </p:spTree>
    <p:extLst>
      <p:ext uri="{BB962C8B-B14F-4D97-AF65-F5344CB8AC3E}">
        <p14:creationId xmlns:p14="http://schemas.microsoft.com/office/powerpoint/2010/main" val="2205366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8139" y="2801239"/>
            <a:ext cx="27127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0" spc="-20" dirty="0">
                <a:solidFill>
                  <a:srgbClr val="FFFFFF"/>
                </a:solidFill>
                <a:latin typeface="Times New Roman"/>
                <a:cs typeface="Times New Roman"/>
              </a:rPr>
              <a:t>THANK</a:t>
            </a:r>
            <a:r>
              <a:rPr sz="3600" b="0" spc="-18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3600" b="0" spc="-25" dirty="0">
                <a:solidFill>
                  <a:srgbClr val="FFFFFF"/>
                </a:solidFill>
                <a:latin typeface="Times New Roman"/>
                <a:cs typeface="Times New Roman"/>
              </a:rPr>
              <a:t>YOU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</TotalTime>
  <Words>1163</Words>
  <Application>Microsoft Office PowerPoint</Application>
  <PresentationFormat>Widescreen</PresentationFormat>
  <Paragraphs>208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Office Theme</vt:lpstr>
      <vt:lpstr>Supply Chain Analysis-CDACL-003 </vt:lpstr>
      <vt:lpstr>                        Project Objective</vt:lpstr>
      <vt:lpstr> Dataset Overview</vt:lpstr>
      <vt:lpstr> Over View Dashboard</vt:lpstr>
      <vt:lpstr> Product Performance Dashboard </vt:lpstr>
      <vt:lpstr> Revenue Breakdown</vt:lpstr>
      <vt:lpstr> Category Comparison</vt:lpstr>
      <vt:lpstr> Logistics Performance</vt:lpstr>
      <vt:lpstr> Quality &amp; Defects</vt:lpstr>
      <vt:lpstr> Supplier Ranking</vt:lpstr>
      <vt:lpstr> Top Insights</vt:lpstr>
      <vt:lpstr> Recommendations &amp; Action Plan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navya varanasi</dc:creator>
  <cp:lastModifiedBy>akshath shetty</cp:lastModifiedBy>
  <cp:revision>2</cp:revision>
  <dcterms:created xsi:type="dcterms:W3CDTF">2025-11-29T14:26:14Z</dcterms:created>
  <dcterms:modified xsi:type="dcterms:W3CDTF">2025-11-29T16:11:37Z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2025-11-09T00:00:00Z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2025-11-29T00:00:00Z</vt:filetime>
  </property>
  <property fmtid="{D5CDD505-2E9C-101B-9397-08002B2CF9AE}" pid="5" name="Producer">
    <vt:lpwstr>Microsoft® PowerPoint® 2021</vt:lpwstr>
  </property>
</Properties>
</file>